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[Admin Command Center Hero View — Full-Bleed Background]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0A0F1D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HEXAWARE MAVERICKS HACKATHON 2026 | TECHNICAL JUDGING DECK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PayTelemetry: Autonomous In-Flight Fraud Intelligence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Sub-20ms Continuous Anomaly Scoring, Risk-Adaptive Graduated Friction &amp; Real-Time TreeSHAP Explainability</a:t>
            </a:r>
          </a:p>
          <a:p/>
          <a:p>
            <a:pPr>
              <a:defRPr sz="1300" b="1">
                <a:solidFill>
                  <a:srgbClr val="10B981"/>
                </a:solidFill>
              </a:defRPr>
            </a:pPr>
            <a:r>
              <a:t>★ 100.0% Precision | 99.87% Recall | Sub-20ms Tier 1 Latency | Zero Customer Block Churn ★</a:t>
            </a:r>
          </a:p>
          <a:p/>
          <a:p>
            <a:pPr>
              <a:defRPr sz="1200" b="1">
                <a:solidFill>
                  <a:srgbClr val="F8FAFC"/>
                </a:solidFill>
              </a:defRPr>
            </a:pPr>
            <a:r>
              <a:t>TEAM CHRONOFORGE: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1. BALAJI M — Team Lead &amp; ML Systems Architect (XGBoost, TreeSHAP, Feature Engineering)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2. DHARSHINI G S — Full-Stack &amp; Streaming Pipeline Engineer (FastAPI Microservices, React Hot-Path)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3. DAKSHANYA D — Backend &amp; Telemetry Engineer (Node.js Gateway, Signal Extractors, Circuit Breakers)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4. DEENA SHEK X — UI/UX &amp; SOC Analytics Engineer (Investigator Console, Graph Networks, Kanban Triage)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Real-Time Payment Dilemma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Why Legacy Rule Engines and Asynchronous Batch Models Fail Modern Instant Rails (UPI / Fast Payments)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⚡ THE SETTLEMENT RACE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Irrevocable Seconds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Real-time payment rails settle in seconds. Traditional batch ML models run post-settlement — flagging fraud only after money has irrevocably left the banking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📉 REVENUE DESTRUCTION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The False Decline Problem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Rigid binary 'Block vs Allow' rule sets penalize loyal customers. Industry-wide, false declines cost merchants many times more in lost legitimate revenue than fraud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🔍 BLACK-BOX PARALYSIS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SOC Alert Fatigue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Security analysts receive ambiguous risk scores without mathematical explainability, spending significant manual time per investigation while automated mule rings drain balances.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Chronoforge Paradigm: In-Flight Adaptive Defense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Replacing Post-Mortem Analytics with Hot-Path Prevention and Risk-Calibrated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1. Pre-Debit Hot-Path Scoring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Scoring 7 continuous telemetry signals synchronously in Node.js before settlement — no slow external network call sits on the critical blocking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830" y="146304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Dynamic Graduated Friction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Eliminating binary hard-blocks by introducing risk-proportionate user challenges (Biometric Step-Up, In-App Confirmation).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3. Layered Explainable AI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A deterministic rule-and-anomaly waterfall runs on every transaction; a real trained XGBoost model with TreeSHAP attribution enriches the score asynchronously when available — never blocking, never faked.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6830" y="393192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4. Full-Cycle SOC Operations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Real-time WebSocket streaming feed, interactive Kanban incident triage, multi-hop entity graph intelligence, and attack scenario injectors.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Layered Microservices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Synchronous Tier 1 Engine That Never Fails, Enriched by an Optional Tier 2 ML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📱 CLIENT LAYER (React / Vite)</a:t>
            </a:r>
          </a:p>
          <a:p/>
          <a:p>
            <a:pPr>
              <a:defRPr sz="1150">
                <a:solidFill>
                  <a:srgbClr val="CBD5E1"/>
                </a:solidFill>
              </a:defRPr>
            </a:pPr>
            <a:r>
              <a:t>• Real-time pre-check telemetry sensor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Adaptive checkout UI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Biometric step-up modal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Scenario &amp; auto-flow trigger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⚙️ GATEWAY &amp; TELEMETRY (Node.js)</a:t>
            </a:r>
          </a:p>
          <a:p/>
          <a:p>
            <a:pPr>
              <a:defRPr sz="1150">
                <a:solidFill>
                  <a:srgbClr val="CBD5E1"/>
                </a:solidFill>
              </a:defRPr>
            </a:pPr>
            <a:r>
              <a:t>• 7-signal deterministic risk engine (Tier 1)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Synchronous sub-20ms execution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Non-blocking ML circuit breaker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Real-time Socket.io event broadcaster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MongoDB persistence &amp; audit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🤖 ML MICROSERVICE (Python FastAPI)</a:t>
            </a:r>
          </a:p>
          <a:p/>
          <a:p>
            <a:pPr>
              <a:defRPr sz="1150">
                <a:solidFill>
                  <a:srgbClr val="CBD5E1"/>
                </a:solidFill>
              </a:defRPr>
            </a:pPr>
            <a:r>
              <a:t>• Balanced XGBoost Classifier v4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Real SHAP TreeExplainer attribution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Asynchronous score enrichment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Never blocks or delays settlement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Continuous drift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Deep Dive: Overcoming Single-Feature Bias in Fraud AI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How We Address Account-Drain Over-Reliance in Naive Decision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⚠️ The Raw Dataset Trap: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Financial fraud datasets are frequently dominated by full-account-drain patterns (96.5%), which causes naive tree splits to assign near-zero risk to 1500× baseline spikes or rapid velocity flurries if the customer holds a high account 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272430" cy="3108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🛠️ The Chronoforge Fix: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Sub-feature bagging (colsample_bytree = 0.65, colsample_bylevel = 0.65).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L1 (reg_alpha = 0.1) &amp; L2 (reg_lambda = 1.0) regularization.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Multi-anomaly calibration across velocity flurries, high amount-ratio spikes, device takeovers, and geographic displacement.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6830" y="3017520"/>
            <a:ext cx="5272430" cy="3108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📊 Actual Training Result (metrics.json):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Achieved 0.9998 ROC-AUC on 22,522 held-out test transactions with feature importance balanced across 5+ telemetry dimensions (Location 25.0%, Device 23.4%, Rule Synergy 20.9%, Drain 15.3%, Amount 4.7%) rather than a single dominant account-drain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Deep Dive: Explainable AI in the Scoring Path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Converting Model Probabilities into Real Mathematical Attribution — Never Hand-Assigned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6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How It Works: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Exact Shapley Decomposition: Computes exact additive feature contributions via shap.TreeExplainer on the actual trained model: Score = base + sum(phi_i).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Real Waterfall Breakdown: Baseline Deviation (+50 pts), Velocity Burst (+30 pts), Unrecognized Hardware (+15 pts).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Dual-Audience Natural Language Engine: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- Consumers: 'Payment of ₹10,00,000 is 1538.5× your average transaction (₹650).'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- Investigators: Full multi-factor telemetry audit log with timestamped device fingerprints.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Sub-Millisecond Speed: TreeSHAP executes in low single-digit ms on the compiled model asynchronously.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63040"/>
            <a:ext cx="4327855" cy="466344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[TelemetryDrawer / ScoreBreakdownChart Waterfall — 4:3]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Deep Dive: Risk-Adaptive UX vs Binary Blocking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Delivering Friction-Free Checkout for Legitimate Users and Targeted Friction for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7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5544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The 5 Graduated Friction Tiers: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Tier 0 (0–30 | NONE): Zero friction (&lt;15ms)  |  • Tier 1 (31–50 | BANNER): Security warning banner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Tier 2 (51–70 | CONFIRM): Explicit review modal  |  • Tier 3 (71–85 | STEP-UP): Biometric Challenge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Tier 4 (86–100 | STEP-UP + ALERT): High-friction challenge + Automated SOC Incident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3332073" cy="301752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[PaymentReview Normal Flow — 9:19.5]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353" y="3108960"/>
            <a:ext cx="3332073" cy="301752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[RiskWarningModal Tier 2 — 9:19.5]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187" y="3108960"/>
            <a:ext cx="3332073" cy="301752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[StepUpAuth Biometric Tier 3/4 — 9:19.5]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Graph Telemetry: Catching Coordinated Mule Rings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Identifying Multi-Hop Syndicates and High-Velocity Layering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8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Core Graph Capabilities: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Network Topology Scoring: Tracks velocity of money movement across shared hardware keys and clusters.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Multi-Hop Fan-In / Fan-Out: Flags aggregator accounts consolidating dispersed small payments into crypto/wire exits.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Proximity Penalty: Automatically inflates risk scores for unflagged accounts within 2 hops of flagged nodes.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292608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[FraudNetworkGraph.jsx Live Force-Directed Mule Cluster — 16:9]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Enterprise Reliability: The ML Layer Can Never Take Down Payments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How PayTelemetry Guarantees Scoring Continuity Even During Service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9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Resilience Architecture: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1. Non-Blocking Circuit Breaker: Monitors Python ML microservice with a 150ms timeout. After 3 failures, circuit trips OPEN immediately.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2. Tier 1 Is the System of Record: Node.js gateway scores every transaction synchronously &amp; independently (&lt;20ms). If Tier 2 is down, Tier 1 produces valid real-time scores.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3. Auto-Healing &amp; Half-Open Probing: Automatically probes Python service every 10s; restores Tier 2 on recovery with zero manual intervention.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4. Immutable Audit Ledger: Every transaction, score, model tier used, and investigator action is logged to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63040"/>
            <a:ext cx="4327855" cy="466344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[SystemHealthPanel.jsx Live Service Status Dots — 4:3]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Validation on Real, Held-Out Transaction Data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Measured Results — Not Projected (Tested on 22,522 Held-Out Rows from 112,607 Dataset)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10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990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PRECISION (0 False Positives)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990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99.87%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RECALL (Sensitivity)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990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0.9998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ROC-AUC DISCRIMINATION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990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&lt;20ms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TIER 1 SCORING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486400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Held-Out Confusion Matrix &amp; Feature Weights: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True Negatives (TN): 19,462  |  True Positives (TP): 3,056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False Positives (FP): 0 (Zero customer harassment!)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False Negatives (FN): 4 (99.87% capture rate)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Top Features: Location (25.0%), Device (23.4%), Rule Synergy (20.9%), Account Drain (15.3%), Amount Ratio (4.7%).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5059375" cy="320040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[ModelPerformance.jsx Real Confusion Matrix &amp; ROC Curve — 4:3]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Live Attack Vector Injections &amp; Scoring Behavior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Verified Behavioral Accuracy Across 5 Critical Financial Attack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11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5 Verified Attack Scenarios: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1. Account Takeover / Drain: Large balance extraction from novel device → CRITICAL → Biometric Step-Up + SOC Incident.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2. Coordinated Mule Ring: Rapid fund layering into crypto counterparty → HIGH/CRITICAL → Graph Flag + Escalation.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3. Impossible Travel Anomaly: 6,000km geo-hop to Moscow at 3:00 AM → MEDIUM → In-App Confirmation Modal.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4. Extreme Baseline Multiple: ₹10,00,000 payment (1538× normal ₹650 baseline) to contact → HIGH → Biometric Step-Up.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5. Legitimate Everyday Payment: ₹350 lunch payment to Swiggy from known Pixel 8 → NONE → Frictionless Pass in &lt;15ms.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4602175" cy="4754880"/>
          </a:xfrm>
          <a:prstGeom prst="roundRect">
            <a:avLst/>
          </a:prstGeom>
          <a:solidFill>
            <a:srgbClr val="0C12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📸 [LiveStreamTable &amp; AlertQueue Mid-Scenario — 16:9]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Swap with actual application export screenshot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Where the Financial Value Comes From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Directional Estimates Based on Industry Benchmarks — Not Measured Production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12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💰 Fraud Loss Reduction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Pre-debit intervention is designed to stop account drains before settlement rather than after, which is where most recovery value is lost industry-wide.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📈 GMV Preservation via Graduated Friction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Replacing binary blocking with tiered friction is designed to recover transactions that would otherwise be lost to over-aggressive false declines.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⚡ SOC Efficiency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Real SHAP-based explanations are designed to cut investigator review time per alert versus a black-box score, enabling higher monitored volume per analyst.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Designed With Institutional Compliance Principles in Mind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Architected in Alignment With RBI/NPCI, GDPR, and Responsible AI Directives — Not a Certified Compliance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13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RBI / NPCI Alignment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Architecture supports real-time risk-based authentication patterns consistent with digital payment intermediary guidance (not a certification).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830" y="146304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Explainability by Design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TreeSHAP attribution and the Tier 1 rule waterfall are structured to support a 'right to explanation' for automated decisions (GDPR Article 22 / DPDP Act).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Model Governance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Tracks prediction distributions and model-tier usage over time to support future drift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6830" y="3931920"/>
            <a:ext cx="527243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Minimal PII in ML Path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Features passed to the ML layer are numeric/normalized signals, not raw personal identifiers.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How Chronoforge Differentiates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Comprehensive Feature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14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560320"/>
                <a:gridCol w="3230575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Legacy Rule Engines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Generic ML Hackathons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PayTelemetry (Chronoforge)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Intervention Model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Binary Block/Allow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Binary Flagging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B82F6"/>
                          </a:solidFill>
                        </a:defRPr>
                      </a:pPr>
                      <a:r>
                        <a:t>5-Stage Dynamic Graduated Friction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Scoring Hot-Path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Fast but inflexible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Often &gt;200ms, asynchronous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B82F6"/>
                          </a:solidFill>
                        </a:defRPr>
                      </a:pPr>
                      <a:r>
                        <a:t>&lt;20ms Tier 1, synchronous, always available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Hardcoded strings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None (Black-Box)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B82F6"/>
                          </a:solidFill>
                        </a:defRPr>
                      </a:pPr>
                      <a:r>
                        <a:t>Real Rule Waterfall + Real TreeSHAP (Tier 2)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Failure Handling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Single point of failure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B82F6"/>
                          </a:solidFill>
                        </a:defRPr>
                      </a:pPr>
                      <a:r>
                        <a:t>Layered — ML can fail without affecting scoring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SOC Workflow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Static CSV/SQL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Basic charts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B82F6"/>
                          </a:solidFill>
                        </a:defRPr>
                      </a:pPr>
                      <a:r>
                        <a:t>Live WebSocket Feed, Kanban &amp; Graph Explorer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Demonstrated 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Varies (~60-70%)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Varies (~80-85%)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B82F6"/>
                          </a:solidFill>
                        </a:defRPr>
                      </a:pPr>
                      <a:r>
                        <a:t>100.0% Precision (0 False Positives)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Attack Simulator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B82F6"/>
                          </a:solidFill>
                        </a:defRPr>
                      </a:pPr>
                      <a:r>
                        <a:t>1-Click Scenario Injector + Continuous Auto-Flow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Horizon: Next-Gen Autonomous Fraud Defense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Scaling PayTelemetry Into a Cross-Institutional Intelligence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Team Chronoforge | Hexaware '26</a:t>
            </a:r>
          </a:p>
          <a:p>
            <a:pPr algn="r">
              <a:defRPr sz="950">
                <a:solidFill>
                  <a:srgbClr val="94A3B8"/>
                </a:solidFill>
              </a:defRPr>
            </a:pPr>
            <a:r>
              <a:t>Slide 15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B82F6"/>
                </a:solidFill>
              </a:defRPr>
            </a:pPr>
            <a:r>
              <a:t>PHASE 1 (Near-Term)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On-Device Pre-Check Scoring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Running lightweight exported models directly on mobile devices for zero-network pre-checks.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PHASE 2 (Mid-Term)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Privacy-Preserving Cross-Bank Graph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Cross-institution graph collaboration for mule ring detection without sharing raw customer PII using Homomorphic Encryption.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PHASE 3 (Long-Term)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LLM-Assisted SOC Copilots</a:t>
            </a:r>
          </a:p>
          <a:p/>
          <a:p>
            <a:pPr>
              <a:defRPr sz="1200">
                <a:solidFill>
                  <a:srgbClr val="CBD5E1"/>
                </a:solidFill>
              </a:defRPr>
            </a:pPr>
            <a:r>
              <a:t>Copilots that draft case summaries and recommend next actions — always with a human investigator in the loop, never autonomous 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solidFill>
              <a:srgbClr val="080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HEXAWARE MAVERICKS HACKATHON 2026</a:t>
            </a:r>
          </a:p>
          <a:p>
            <a:pPr algn="ctr">
              <a:defRPr sz="36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Team Chronoforge is Ready for Your Questions &amp; Live System Demonstration.</a:t>
            </a:r>
          </a:p>
          <a:p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"Security should protect trust, not destroy user experience. PayTelemetry makes real-time payments safer, smarter, and frictionless."</a:t>
            </a:r>
          </a:p>
          <a:p/>
          <a:p>
            <a:pPr algn="ctr">
              <a:defRPr sz="1100">
                <a:solidFill>
                  <a:srgbClr val="CBD5E1"/>
                </a:solidFill>
              </a:defRPr>
            </a:pPr>
            <a:r>
              <a:t>📱 Consumer UPI App: http://localhost:5173  |  🛡️ Investigator Console: http://localhost:5173</a:t>
            </a:r>
          </a:p>
          <a:p>
            <a:pPr algn="ctr">
              <a:defRPr sz="1100">
                <a:solidFill>
                  <a:srgbClr val="3B82F6"/>
                </a:solidFill>
              </a:defRPr>
            </a:pPr>
            <a:r>
              <a:t>📦 GitHub Repository: https://github.com/Balaji-9941/HACKATHON-PROJECT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